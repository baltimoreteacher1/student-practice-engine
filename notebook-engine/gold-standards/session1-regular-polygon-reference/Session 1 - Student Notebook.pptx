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47472"/>
            <a:ext cx="2395728" cy="310896"/>
          </a:xfrm>
          <a:prstGeom prst="roundRect">
            <a:avLst>
              <a:gd name="adj" fmla="val 35000"/>
            </a:avLst>
          </a:prstGeom>
          <a:solidFill>
            <a:srgbClr val="F9A826"/>
          </a:solidFill>
          <a:ln w="12065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080" b="1">
                <a:solidFill>
                  <a:srgbClr val="1E5F74"/>
                </a:solidFill>
                <a:latin typeface="Arial"/>
              </a:defRPr>
            </a:pPr>
            <a:r>
              <a:rPr/>
              <a:t>Objectives + Session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" y="768096"/>
            <a:ext cx="3474720" cy="475488"/>
          </a:xfrm>
          <a:prstGeom prst="roundRect">
            <a:avLst>
              <a:gd name="adj" fmla="val 24000"/>
            </a:avLst>
          </a:prstGeom>
          <a:solidFill>
            <a:srgbClr val="1E5F74"/>
          </a:solidFill>
          <a:ln w="889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3474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820" b="1">
                <a:solidFill>
                  <a:srgbClr val="FFFFFF"/>
                </a:solidFill>
                <a:latin typeface="Arial"/>
              </a:defRPr>
            </a:pPr>
            <a:r>
              <a:rPr/>
              <a:t>Objectives + Session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271016"/>
            <a:ext cx="9857232" cy="274320"/>
          </a:xfrm>
          <a:prstGeom prst="roundRect">
            <a:avLst>
              <a:gd name="adj" fmla="val 18000"/>
            </a:avLst>
          </a:prstGeom>
          <a:solidFill>
            <a:srgbClr val="ECF7FC"/>
          </a:solidFill>
          <a:ln w="7620">
            <a:solidFill>
              <a:srgbClr val="EC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9473184" cy="18288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200" b="0">
                <a:solidFill>
                  <a:srgbClr val="288BA8"/>
                </a:solidFill>
                <a:latin typeface="Arial"/>
              </a:defRPr>
            </a:pPr>
            <a:r>
              <a:rPr/>
              <a:t>Start with the goal, the standard, and today's four-step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99648" y="53035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9A826"/>
          </a:solidFill>
          <a:ln w="8890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99648" y="667512"/>
            <a:ext cx="566928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220" b="1">
                <a:solidFill>
                  <a:srgbClr val="FFFFFF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1627632"/>
            <a:ext cx="11027664" cy="27432"/>
          </a:xfrm>
          <a:prstGeom prst="rect">
            <a:avLst/>
          </a:prstGeom>
          <a:solidFill>
            <a:srgbClr val="28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5486400" cy="1316736"/>
          </a:xfrm>
          <a:prstGeom prst="roundRect">
            <a:avLst>
              <a:gd name="adj" fmla="val 18000"/>
            </a:avLst>
          </a:prstGeom>
          <a:solidFill>
            <a:srgbClr val="ECF7FC"/>
          </a:solidFill>
          <a:ln w="1333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993392"/>
            <a:ext cx="1490472" cy="256032"/>
          </a:xfrm>
          <a:prstGeom prst="roundRect">
            <a:avLst>
              <a:gd name="adj" fmla="val 32000"/>
            </a:avLst>
          </a:prstGeom>
          <a:solidFill>
            <a:srgbClr val="288BA8"/>
          </a:solidFill>
          <a:ln w="8890">
            <a:solidFill>
              <a:srgbClr val="28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002536"/>
            <a:ext cx="1490472" cy="237744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240" b="1">
                <a:solidFill>
                  <a:srgbClr val="FFFFFF"/>
                </a:solidFill>
                <a:latin typeface="Arial"/>
              </a:defRPr>
            </a:pPr>
            <a:r>
              <a:rPr/>
              <a:t>Content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5084064" cy="56692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22000"/>
              </a:lnSpc>
              <a:spcAft>
                <a:spcPts val="260"/>
              </a:spcAft>
              <a:defRPr sz="1120" b="0">
                <a:solidFill>
                  <a:srgbClr val="273F4A"/>
                </a:solidFill>
                <a:latin typeface="Arial"/>
              </a:defRPr>
            </a:pPr>
            <a:r>
              <a:rPr/>
              <a:t>I can find the area of a regular polygon by decomposing the figure into triangles.</a:t>
            </a:r>
          </a:p>
          <a:p>
            <a:pPr algn="l">
              <a:lnSpc>
                <a:spcPct val="122000"/>
              </a:lnSpc>
              <a:spcAft>
                <a:spcPts val="80"/>
              </a:spcAft>
              <a:defRPr sz="1120" b="0">
                <a:solidFill>
                  <a:srgbClr val="273F4A"/>
                </a:solidFill>
                <a:latin typeface="Arial"/>
              </a:defRPr>
            </a:pPr>
            <a:r>
              <a:rPr/>
              <a:t>I can connect each side of the polygon to one congruent triangle.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828800"/>
            <a:ext cx="5458968" cy="1316736"/>
          </a:xfrm>
          <a:prstGeom prst="roundRect">
            <a:avLst>
              <a:gd name="adj" fmla="val 18000"/>
            </a:avLst>
          </a:prstGeom>
          <a:solidFill>
            <a:srgbClr val="EBF4F7"/>
          </a:solidFill>
          <a:ln w="1333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993392"/>
            <a:ext cx="1536192" cy="256032"/>
          </a:xfrm>
          <a:prstGeom prst="roundRect">
            <a:avLst>
              <a:gd name="adj" fmla="val 32000"/>
            </a:avLst>
          </a:prstGeom>
          <a:solidFill>
            <a:srgbClr val="288BA8"/>
          </a:solidFill>
          <a:ln w="8890">
            <a:solidFill>
              <a:srgbClr val="28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02536"/>
            <a:ext cx="1536192" cy="237744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240" b="1">
                <a:solidFill>
                  <a:srgbClr val="FFFFFF"/>
                </a:solidFill>
                <a:latin typeface="Arial"/>
              </a:defRPr>
            </a:pPr>
            <a:r>
              <a:rPr/>
              <a:t>Language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95728"/>
            <a:ext cx="5056632" cy="56692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270" b="0">
                <a:solidFill>
                  <a:srgbClr val="273F4A"/>
                </a:solidFill>
                <a:latin typeface="Arial"/>
              </a:defRPr>
            </a:pPr>
            <a:r>
              <a:rPr/>
              <a:t>I can explain how decomposing the regular polygon into congruent triangles helps me find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83280"/>
            <a:ext cx="2304288" cy="7680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335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547872"/>
            <a:ext cx="1225296" cy="256032"/>
          </a:xfrm>
          <a:prstGeom prst="roundRect">
            <a:avLst>
              <a:gd name="adj" fmla="val 32000"/>
            </a:avLst>
          </a:prstGeom>
          <a:solidFill>
            <a:srgbClr val="1E5F74"/>
          </a:solidFill>
          <a:ln w="889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557016"/>
            <a:ext cx="1225296" cy="237744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240" b="1">
                <a:solidFill>
                  <a:srgbClr val="FFFFFF"/>
                </a:solidFill>
                <a:latin typeface="Arial"/>
              </a:defRPr>
            </a:pPr>
            <a:r>
              <a:rPr/>
              <a:t>Standard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950208"/>
            <a:ext cx="1901952" cy="1828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120" b="0">
                <a:solidFill>
                  <a:srgbClr val="273F4A"/>
                </a:solidFill>
                <a:latin typeface="Arial"/>
              </a:defRPr>
            </a:pPr>
            <a:r>
              <a:rPr/>
              <a:t>6.G.A.1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99232" y="3383280"/>
            <a:ext cx="8659368" cy="1078992"/>
          </a:xfrm>
          <a:prstGeom prst="roundRect">
            <a:avLst>
              <a:gd name="adj" fmla="val 18000"/>
            </a:avLst>
          </a:prstGeom>
          <a:solidFill>
            <a:srgbClr val="EBF4F7"/>
          </a:solidFill>
          <a:ln w="1333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00400" y="3547872"/>
            <a:ext cx="1581912" cy="256032"/>
          </a:xfrm>
          <a:prstGeom prst="roundRect">
            <a:avLst>
              <a:gd name="adj" fmla="val 32000"/>
            </a:avLst>
          </a:prstGeom>
          <a:solidFill>
            <a:srgbClr val="288BA8"/>
          </a:solidFill>
          <a:ln w="8890">
            <a:solidFill>
              <a:srgbClr val="28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3557016"/>
            <a:ext cx="1581912" cy="237744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240" b="1">
                <a:solidFill>
                  <a:srgbClr val="FFFFFF"/>
                </a:solidFill>
                <a:latin typeface="Arial"/>
              </a:defRPr>
            </a:pPr>
            <a:r>
              <a:rPr/>
              <a:t>Today's 4-Step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950208"/>
            <a:ext cx="8257032" cy="329184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100" b="0">
                <a:solidFill>
                  <a:srgbClr val="273F4A"/>
                </a:solidFill>
                <a:latin typeface="Arial"/>
              </a:defRPr>
            </a:pPr>
            <a:r>
              <a:rPr/>
              <a:t>Move through the notebook in order so each page builds the next part of the lesson.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55264" y="4663440"/>
            <a:ext cx="1719072" cy="3291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065">
            <a:solidFill>
              <a:srgbClr val="28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280" b="0">
                <a:solidFill>
                  <a:srgbClr val="273F4A"/>
                </a:solidFill>
                <a:latin typeface="Arial"/>
              </a:defRPr>
            </a:pPr>
            <a:r>
              <a:rPr/>
              <a:t>Be Curious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85232" y="4663440"/>
            <a:ext cx="1719072" cy="329184"/>
          </a:xfrm>
          <a:prstGeom prst="roundRect">
            <a:avLst>
              <a:gd name="adj" fmla="val 22000"/>
            </a:avLst>
          </a:prstGeom>
          <a:solidFill>
            <a:srgbClr val="FFFAF1"/>
          </a:solidFill>
          <a:ln w="12065">
            <a:solidFill>
              <a:srgbClr val="28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280" b="0">
                <a:solidFill>
                  <a:srgbClr val="273F4A"/>
                </a:solidFill>
                <a:latin typeface="Arial"/>
              </a:defRPr>
            </a:pPr>
            <a:r>
              <a:rPr/>
              <a:t>Vocabulary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4663440"/>
            <a:ext cx="1719072" cy="3291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065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280" b="0">
                <a:solidFill>
                  <a:srgbClr val="273F4A"/>
                </a:solidFill>
                <a:latin typeface="Arial"/>
              </a:defRPr>
            </a:pPr>
            <a:r>
              <a:rPr/>
              <a:t>Try 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45168" y="4663440"/>
            <a:ext cx="1719072" cy="329184"/>
          </a:xfrm>
          <a:prstGeom prst="roundRect">
            <a:avLst>
              <a:gd name="adj" fmla="val 22000"/>
            </a:avLst>
          </a:prstGeom>
          <a:solidFill>
            <a:srgbClr val="FFFAF1"/>
          </a:solidFill>
          <a:ln w="12065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280" b="0">
                <a:solidFill>
                  <a:srgbClr val="273F4A"/>
                </a:solidFill>
                <a:latin typeface="Arial"/>
              </a:defRPr>
            </a:pPr>
            <a:r>
              <a:rPr/>
              <a:t>Discuss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065776"/>
            <a:ext cx="11201400" cy="1042415"/>
          </a:xfrm>
          <a:prstGeom prst="roundRect">
            <a:avLst>
              <a:gd name="adj" fmla="val 18000"/>
            </a:avLst>
          </a:prstGeom>
          <a:solidFill>
            <a:srgbClr val="ECF7FC"/>
          </a:solidFill>
          <a:ln w="1333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230368"/>
            <a:ext cx="1307592" cy="256032"/>
          </a:xfrm>
          <a:prstGeom prst="roundRect">
            <a:avLst>
              <a:gd name="adj" fmla="val 32000"/>
            </a:avLst>
          </a:prstGeom>
          <a:solidFill>
            <a:srgbClr val="288BA8"/>
          </a:solidFill>
          <a:ln w="8890">
            <a:solidFill>
              <a:srgbClr val="28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239512"/>
            <a:ext cx="1307592" cy="237744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240" b="1">
                <a:solidFill>
                  <a:srgbClr val="FFFFFF"/>
                </a:solidFill>
                <a:latin typeface="Arial"/>
              </a:defRPr>
            </a:pPr>
            <a:r>
              <a:rPr/>
              <a:t>Language Move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632704"/>
            <a:ext cx="10799064" cy="292607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120" b="0">
                <a:solidFill>
                  <a:srgbClr val="273F4A"/>
                </a:solidFill>
                <a:latin typeface="Arial"/>
              </a:defRPr>
            </a:pPr>
            <a:r>
              <a:rPr/>
              <a:t>I say: 'I find one triangle, then multiply by the number of triangles.'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47472"/>
            <a:ext cx="1499616" cy="310896"/>
          </a:xfrm>
          <a:prstGeom prst="roundRect">
            <a:avLst>
              <a:gd name="adj" fmla="val 35000"/>
            </a:avLst>
          </a:prstGeom>
          <a:solidFill>
            <a:srgbClr val="F9A826"/>
          </a:solidFill>
          <a:ln w="12065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080" b="1">
                <a:solidFill>
                  <a:srgbClr val="1E5F74"/>
                </a:solidFill>
                <a:latin typeface="Arial"/>
              </a:defRPr>
            </a:pPr>
            <a:r>
              <a:rPr/>
              <a:t>Be Curious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" y="768096"/>
            <a:ext cx="3291840" cy="475488"/>
          </a:xfrm>
          <a:prstGeom prst="roundRect">
            <a:avLst>
              <a:gd name="adj" fmla="val 24000"/>
            </a:avLst>
          </a:prstGeom>
          <a:solidFill>
            <a:srgbClr val="1E5F74"/>
          </a:solidFill>
          <a:ln w="889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329184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820" b="1">
                <a:solidFill>
                  <a:srgbClr val="FFFFFF"/>
                </a:solidFill>
                <a:latin typeface="Arial"/>
              </a:defRPr>
            </a:pPr>
            <a:r>
              <a:rPr/>
              <a:t>Be Curious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271016"/>
            <a:ext cx="9857232" cy="274320"/>
          </a:xfrm>
          <a:prstGeom prst="roundRect">
            <a:avLst>
              <a:gd name="adj" fmla="val 18000"/>
            </a:avLst>
          </a:prstGeom>
          <a:solidFill>
            <a:srgbClr val="ECF7FC"/>
          </a:solidFill>
          <a:ln w="7620">
            <a:solidFill>
              <a:srgbClr val="EC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9473184" cy="18288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200" b="0">
                <a:solidFill>
                  <a:srgbClr val="288BA8"/>
                </a:solidFill>
                <a:latin typeface="Arial"/>
              </a:defRPr>
            </a:pPr>
            <a:r>
              <a:rPr/>
              <a:t>Look closely at the lesson setup before you solve.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99648" y="53035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9A826"/>
          </a:solidFill>
          <a:ln w="8890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99648" y="667512"/>
            <a:ext cx="566928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220" b="1">
                <a:solidFill>
                  <a:srgbClr val="FFFFFF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1627632"/>
            <a:ext cx="11027664" cy="27432"/>
          </a:xfrm>
          <a:prstGeom prst="rect">
            <a:avLst/>
          </a:prstGeom>
          <a:solidFill>
            <a:srgbClr val="28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3794760" cy="3977639"/>
          </a:xfrm>
          <a:prstGeom prst="roundRect">
            <a:avLst>
              <a:gd name="adj" fmla="val 10000"/>
            </a:avLst>
          </a:prstGeom>
          <a:solidFill>
            <a:srgbClr val="ECF7FC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066544"/>
            <a:ext cx="3319272" cy="3502151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630" b="1">
                <a:solidFill>
                  <a:srgbClr val="587A87"/>
                </a:solidFill>
                <a:latin typeface="Arial"/>
              </a:defRPr>
            </a:pPr>
            <a:r>
              <a:rPr/>
              <a:t>Notice + Wonder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559552"/>
            <a:ext cx="3383280" cy="585216"/>
          </a:xfrm>
          <a:prstGeom prst="roundRect">
            <a:avLst>
              <a:gd name="adj" fmla="val 18000"/>
            </a:avLst>
          </a:prstGeom>
          <a:solidFill>
            <a:srgbClr val="EBF4F7"/>
          </a:solidFill>
          <a:ln w="1333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5687568"/>
            <a:ext cx="1307592" cy="201168"/>
          </a:xfrm>
          <a:prstGeom prst="roundRect">
            <a:avLst>
              <a:gd name="adj" fmla="val 32000"/>
            </a:avLst>
          </a:prstGeom>
          <a:solidFill>
            <a:srgbClr val="288BA8"/>
          </a:solidFill>
          <a:ln w="8890">
            <a:solidFill>
              <a:srgbClr val="28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96712"/>
            <a:ext cx="1307592" cy="18288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080" b="1">
                <a:solidFill>
                  <a:srgbClr val="FFFFFF"/>
                </a:solidFill>
                <a:latin typeface="Arial"/>
              </a:defRPr>
            </a:pPr>
            <a:r>
              <a:rPr/>
              <a:t>First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43600"/>
            <a:ext cx="30540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040" b="0">
                <a:solidFill>
                  <a:srgbClr val="273F4A"/>
                </a:solidFill>
                <a:latin typeface="Arial"/>
              </a:defRPr>
            </a:pPr>
            <a:r>
              <a:rPr/>
              <a:t>Use one notice to predict how the first problem might be solved.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1828800"/>
            <a:ext cx="3310128" cy="2999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64024" y="1975104"/>
            <a:ext cx="3017520" cy="1097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10000"/>
              </a:lnSpc>
              <a:spcAft>
                <a:spcPts val="160"/>
              </a:spcAft>
              <a:defRPr sz="1280" b="1">
                <a:solidFill>
                  <a:srgbClr val="1E5F74"/>
                </a:solidFill>
                <a:latin typeface="Arial"/>
              </a:defRPr>
            </a:pPr>
            <a:r>
              <a:rPr/>
              <a:t>Notice</a:t>
            </a:r>
          </a:p>
          <a:p>
            <a:pPr algn="l">
              <a:lnSpc>
                <a:spcPct val="114000"/>
              </a:lnSpc>
              <a:spcAft>
                <a:spcPts val="80"/>
              </a:spcAft>
              <a:defRPr sz="1120" b="0">
                <a:solidFill>
                  <a:srgbClr val="273F4A"/>
                </a:solidFill>
                <a:latin typeface="Arial"/>
              </a:defRPr>
            </a:pPr>
            <a:r>
              <a:rPr/>
              <a:t>I see a regular polygon. I see congruent triangles. I see labeled measures. Sentence kernels: I notice ___ because ___. I notice the image shows ___.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64024" y="3182112"/>
            <a:ext cx="3017520" cy="14996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48472" y="1828800"/>
            <a:ext cx="3310128" cy="2999232"/>
          </a:xfrm>
          <a:prstGeom prst="roundRect">
            <a:avLst>
              <a:gd name="adj" fmla="val 16000"/>
            </a:avLst>
          </a:prstGeom>
          <a:solidFill>
            <a:srgbClr val="ECF7FC"/>
          </a:solidFill>
          <a:ln w="12700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94776" y="1975104"/>
            <a:ext cx="3017520" cy="1097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10000"/>
              </a:lnSpc>
              <a:spcAft>
                <a:spcPts val="160"/>
              </a:spcAft>
              <a:defRPr sz="1280" b="1">
                <a:solidFill>
                  <a:srgbClr val="288BA8"/>
                </a:solidFill>
                <a:latin typeface="Arial"/>
              </a:defRPr>
            </a:pPr>
            <a:r>
              <a:rPr/>
              <a:t>Wonder</a:t>
            </a:r>
          </a:p>
          <a:p>
            <a:pPr algn="l">
              <a:lnSpc>
                <a:spcPct val="114000"/>
              </a:lnSpc>
              <a:spcAft>
                <a:spcPts val="80"/>
              </a:spcAft>
              <a:defRPr sz="1120" b="0">
                <a:solidFill>
                  <a:srgbClr val="273F4A"/>
                </a:solidFill>
                <a:latin typeface="Arial"/>
              </a:defRPr>
            </a:pPr>
            <a:r>
              <a:rPr/>
              <a:t>How does one triangle help us find the whole area? Sentence kernels: I wonder ___ because ___. I predict ___ because ___.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94776" y="3182112"/>
            <a:ext cx="3017520" cy="14996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17720" y="5102352"/>
            <a:ext cx="4526280" cy="1005840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5A8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5102352"/>
            <a:ext cx="4526280" cy="128016"/>
          </a:xfrm>
          <a:prstGeom prst="rect">
            <a:avLst/>
          </a:prstGeom>
          <a:solidFill>
            <a:srgbClr val="5A8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64024" y="5248656"/>
            <a:ext cx="423367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430" b="1">
                <a:solidFill>
                  <a:srgbClr val="1E5F74"/>
                </a:solidFill>
                <a:latin typeface="Arial"/>
              </a:defRPr>
            </a:pPr>
            <a:r>
              <a:rPr/>
              <a:t>Academic Vocabulary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4024" y="5541264"/>
            <a:ext cx="2052828" cy="164592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140" b="1">
                <a:solidFill>
                  <a:srgbClr val="5A8E9D"/>
                </a:solidFill>
                <a:latin typeface="Arial"/>
              </a:defRPr>
            </a:pPr>
            <a:r>
              <a:rPr/>
              <a:t>Area · area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4024" y="5687568"/>
            <a:ext cx="2052828" cy="164592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040" b="0">
                <a:solidFill>
                  <a:srgbClr val="273F4A"/>
                </a:solidFill>
                <a:latin typeface="Arial"/>
              </a:defRPr>
            </a:pPr>
            <a:r>
              <a:rPr/>
              <a:t>Use this lesson word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4868" y="5541264"/>
            <a:ext cx="2052828" cy="164592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140" b="1">
                <a:solidFill>
                  <a:srgbClr val="5A8E9D"/>
                </a:solidFill>
                <a:latin typeface="Arial"/>
              </a:defRPr>
            </a:pPr>
            <a:r>
              <a:rPr/>
              <a:t>Regular Polygon ·…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4868" y="5687568"/>
            <a:ext cx="2052828" cy="164592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040" b="0">
                <a:solidFill>
                  <a:srgbClr val="273F4A"/>
                </a:solidFill>
                <a:latin typeface="Arial"/>
              </a:defRPr>
            </a:pPr>
            <a:r>
              <a:rPr/>
              <a:t>Use this lesson word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64024" y="5724144"/>
            <a:ext cx="4233672" cy="237744"/>
          </a:xfrm>
          <a:prstGeom prst="roundRect">
            <a:avLst/>
          </a:prstGeom>
          <a:solidFill>
            <a:srgbClr val="EFF7F9"/>
          </a:solidFill>
          <a:ln w="12065">
            <a:solidFill>
              <a:srgbClr val="5A8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190" b="0">
                <a:solidFill>
                  <a:srgbClr val="587A87"/>
                </a:solidFill>
                <a:latin typeface="Arial"/>
              </a:defRPr>
            </a:pPr>
            <a:r>
              <a:rPr/>
              <a:t>My word: ____________________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63456" y="5102352"/>
            <a:ext cx="2295144" cy="1005840"/>
          </a:xfrm>
          <a:prstGeom prst="roundRect">
            <a:avLst/>
          </a:prstGeom>
          <a:solidFill>
            <a:srgbClr val="EFF7F9"/>
          </a:solidFill>
          <a:ln w="12065">
            <a:solidFill>
              <a:srgbClr val="5A8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0" y="5193792"/>
            <a:ext cx="2002536" cy="201168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120" b="1">
                <a:solidFill>
                  <a:srgbClr val="5A8E9D"/>
                </a:solidFill>
                <a:latin typeface="Arial"/>
              </a:defRPr>
            </a:pPr>
            <a:r>
              <a:rPr/>
              <a:t>Reveal + Discuss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5413248"/>
            <a:ext cx="2039112" cy="109728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040" b="0">
                <a:solidFill>
                  <a:srgbClr val="587A87"/>
                </a:solidFill>
                <a:latin typeface="Arial"/>
              </a:defRPr>
            </a:pPr>
            <a:r>
              <a:rPr/>
              <a:t>Reveal or sort the source clues, terms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91472" y="5888736"/>
            <a:ext cx="982980" cy="164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065">
            <a:solidFill>
              <a:srgbClr val="5A8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120" b="0">
                <a:solidFill>
                  <a:srgbClr val="273F4A"/>
                </a:solidFill>
                <a:latin typeface="Arial"/>
              </a:defRPr>
            </a:pPr>
            <a:r>
              <a:rPr/>
              <a:t>Regular Polygon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47604" y="5888736"/>
            <a:ext cx="982980" cy="164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065">
            <a:solidFill>
              <a:srgbClr val="5A8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170" b="0">
                <a:solidFill>
                  <a:srgbClr val="273F4A"/>
                </a:solidFill>
                <a:latin typeface="Arial"/>
              </a:defRPr>
            </a:pPr>
            <a:r>
              <a:rPr/>
              <a:t>Octagon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47472"/>
            <a:ext cx="2587752" cy="310896"/>
          </a:xfrm>
          <a:prstGeom prst="roundRect">
            <a:avLst>
              <a:gd name="adj" fmla="val 35000"/>
            </a:avLst>
          </a:prstGeom>
          <a:solidFill>
            <a:srgbClr val="F9A826"/>
          </a:solidFill>
          <a:ln w="12065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080" b="1">
                <a:solidFill>
                  <a:srgbClr val="1E5F74"/>
                </a:solidFill>
                <a:latin typeface="Arial"/>
              </a:defRPr>
            </a:pPr>
            <a:r>
              <a:rPr/>
              <a:t>Vocabulary + Reference Tool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" y="768096"/>
            <a:ext cx="3694176" cy="475488"/>
          </a:xfrm>
          <a:prstGeom prst="roundRect">
            <a:avLst>
              <a:gd name="adj" fmla="val 24000"/>
            </a:avLst>
          </a:prstGeom>
          <a:solidFill>
            <a:srgbClr val="1E5F74"/>
          </a:solidFill>
          <a:ln w="889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3694176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820" b="1">
                <a:solidFill>
                  <a:srgbClr val="FFFFFF"/>
                </a:solidFill>
                <a:latin typeface="Arial"/>
              </a:defRPr>
            </a:pPr>
            <a:r>
              <a:rPr/>
              <a:t>Vocabulary + Reference Tool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271016"/>
            <a:ext cx="9857232" cy="274320"/>
          </a:xfrm>
          <a:prstGeom prst="roundRect">
            <a:avLst>
              <a:gd name="adj" fmla="val 18000"/>
            </a:avLst>
          </a:prstGeom>
          <a:solidFill>
            <a:srgbClr val="ECF7FC"/>
          </a:solidFill>
          <a:ln w="7620">
            <a:solidFill>
              <a:srgbClr val="EC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9473184" cy="18288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200" b="0">
                <a:solidFill>
                  <a:srgbClr val="288BA8"/>
                </a:solidFill>
                <a:latin typeface="Arial"/>
              </a:defRPr>
            </a:pPr>
            <a:r>
              <a:rPr/>
              <a:t>Keep the lesson words and the solve-reference tool visible while you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99648" y="53035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9A826"/>
          </a:solidFill>
          <a:ln w="8890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99648" y="667512"/>
            <a:ext cx="566928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220" b="1">
                <a:solidFill>
                  <a:srgbClr val="FFFFFF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1627632"/>
            <a:ext cx="11027664" cy="27432"/>
          </a:xfrm>
          <a:prstGeom prst="rect">
            <a:avLst/>
          </a:prstGeom>
          <a:solidFill>
            <a:srgbClr val="28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11201400" cy="493776"/>
          </a:xfrm>
          <a:prstGeom prst="roundRect">
            <a:avLst>
              <a:gd name="adj" fmla="val 18000"/>
            </a:avLst>
          </a:prstGeom>
          <a:solidFill>
            <a:srgbClr val="ECF7FC"/>
          </a:solidFill>
          <a:ln w="1333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1956816"/>
            <a:ext cx="2359152" cy="201168"/>
          </a:xfrm>
          <a:prstGeom prst="roundRect">
            <a:avLst>
              <a:gd name="adj" fmla="val 32000"/>
            </a:avLst>
          </a:prstGeom>
          <a:solidFill>
            <a:srgbClr val="288BA8"/>
          </a:solidFill>
          <a:ln w="8890">
            <a:solidFill>
              <a:srgbClr val="28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965960"/>
            <a:ext cx="2359152" cy="18288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060" b="1">
                <a:solidFill>
                  <a:srgbClr val="FFFFFF"/>
                </a:solidFill>
                <a:latin typeface="Arial"/>
              </a:defRPr>
            </a:pPr>
            <a:r>
              <a:rPr/>
              <a:t>Word | Definition | Example | Visual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212848"/>
            <a:ext cx="10872216" cy="365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080" b="0">
                <a:solidFill>
                  <a:srgbClr val="273F4A"/>
                </a:solidFill>
                <a:latin typeface="Arial"/>
              </a:defRPr>
            </a:pPr>
            <a:r>
              <a:rPr/>
              <a:t>Match each word to a definition, example, and visual clue from the lesson.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542032"/>
          <a:ext cx="11201400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054096"/>
                <a:gridCol w="3127248"/>
                <a:gridCol w="3099816"/>
              </a:tblGrid>
              <a:tr h="402336"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80" b="1">
                          <a:solidFill>
                            <a:srgbClr val="FFFFFF"/>
                          </a:solidFill>
                          <a:latin typeface="Arial"/>
                        </a:rPr>
                        <a:t>Word</a:t>
                      </a:r>
                    </a:p>
                  </a:txBody>
                  <a:tcPr>
                    <a:solidFill>
                      <a:srgbClr val="1E5F74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80" b="1">
                          <a:solidFill>
                            <a:srgbClr val="FFFFFF"/>
                          </a:solidFill>
                          <a:latin typeface="Arial"/>
                        </a:rPr>
                        <a:t>Definition</a:t>
                      </a:r>
                    </a:p>
                  </a:txBody>
                  <a:tcPr>
                    <a:solidFill>
                      <a:srgbClr val="1E5F74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8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>
                    <a:solidFill>
                      <a:srgbClr val="1E5F74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80" b="1">
                          <a:solidFill>
                            <a:srgbClr val="FFFFFF"/>
                          </a:solidFill>
                          <a:latin typeface="Arial"/>
                        </a:rPr>
                        <a:t>Visual</a:t>
                      </a:r>
                    </a:p>
                  </a:txBody>
                  <a:tcPr>
                    <a:solidFill>
                      <a:srgbClr val="1E5F74"/>
                    </a:solidFill>
                  </a:tcPr>
                </a:tc>
              </a:tr>
              <a:tr h="658368">
                <a:tc>
                  <a:txBody>
                    <a:bodyPr wrap="square" anchor="t" lIns="27432" rIns="27432" tIns="27432" bIns="27432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0" b="0">
                          <a:solidFill>
                            <a:srgbClr val="273F4A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0" b="0">
                          <a:solidFill>
                            <a:srgbClr val="273F4A"/>
                          </a:solidFill>
                          <a:latin typeface="Arial"/>
                        </a:rPr>
                        <a:t>the amount of space inside a figure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0" b="0">
                          <a:solidFill>
                            <a:srgbClr val="273F4A"/>
                          </a:solidFill>
                          <a:latin typeface="Arial"/>
                        </a:rPr>
                        <a:t>How can you decompose the octagon into shapes…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0" b="0">
                          <a:solidFill>
                            <a:srgbClr val="273F4A"/>
                          </a:solidFill>
                          <a:latin typeface="Arial"/>
                        </a:rPr>
                        <a:t>Session 1 Apply Area Concepts to…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anchor="t" lIns="27432" rIns="27432" tIns="27432" bIns="27432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0" b="0">
                          <a:solidFill>
                            <a:srgbClr val="273F4A"/>
                          </a:solidFill>
                          <a:latin typeface="Arial"/>
                        </a:rPr>
                        <a:t>Regular Polygon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0" b="0">
                          <a:solidFill>
                            <a:srgbClr val="273F4A"/>
                          </a:solidFill>
                          <a:latin typeface="Arial"/>
                        </a:rPr>
                        <a:t>a polygon with equal sides and equal angles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0" b="0">
                          <a:solidFill>
                            <a:srgbClr val="273F4A"/>
                          </a:solidFill>
                          <a:latin typeface="Arial"/>
                        </a:rPr>
                        <a:t>Because each side has the same length, the…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0" b="0">
                          <a:solidFill>
                            <a:srgbClr val="273F4A"/>
                          </a:solidFill>
                          <a:latin typeface="Arial"/>
                        </a:rPr>
                        <a:t>Because each side has the same…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anchor="t" lIns="27432" rIns="27432" tIns="27432" bIns="27432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0" b="0">
                          <a:solidFill>
                            <a:srgbClr val="273F4A"/>
                          </a:solidFill>
                          <a:latin typeface="Arial"/>
                        </a:rPr>
                        <a:t>Octagon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0" b="0">
                          <a:solidFill>
                            <a:srgbClr val="273F4A"/>
                          </a:solidFill>
                          <a:latin typeface="Arial"/>
                        </a:rPr>
                        <a:t>an eight-sided polygon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0" b="0">
                          <a:solidFill>
                            <a:srgbClr val="273F4A"/>
                          </a:solidFill>
                          <a:latin typeface="Arial"/>
                        </a:rPr>
                        <a:t>How can you decompose the octagon into shapes…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0" b="0">
                          <a:solidFill>
                            <a:srgbClr val="273F4A"/>
                          </a:solidFill>
                          <a:latin typeface="Arial"/>
                        </a:rPr>
                        <a:t>How can you decompose the octagon…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anchor="t" lIns="27432" rIns="27432" tIns="27432" bIns="27432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0" b="0">
                          <a:solidFill>
                            <a:srgbClr val="273F4A"/>
                          </a:solidFill>
                          <a:latin typeface="Arial"/>
                        </a:rPr>
                        <a:t>Decompose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0" b="0">
                          <a:solidFill>
                            <a:srgbClr val="273F4A"/>
                          </a:solidFill>
                          <a:latin typeface="Arial"/>
                        </a:rPr>
                        <a:t>to break a figure into smaller, known shapes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0" b="0">
                          <a:solidFill>
                            <a:srgbClr val="273F4A"/>
                          </a:solidFill>
                          <a:latin typeface="Arial"/>
                        </a:rPr>
                        <a:t>How can you decompose the octagon into shapes…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20" b="0">
                          <a:solidFill>
                            <a:srgbClr val="273F4A"/>
                          </a:solidFill>
                          <a:latin typeface="Arial"/>
                        </a:rPr>
                        <a:t>How can you decompose the octagon…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457200" y="5779008"/>
            <a:ext cx="11201400" cy="457200"/>
          </a:xfrm>
          <a:prstGeom prst="roundRect">
            <a:avLst>
              <a:gd name="adj" fmla="val 18000"/>
            </a:avLst>
          </a:prstGeom>
          <a:solidFill>
            <a:srgbClr val="EBF4F7"/>
          </a:solidFill>
          <a:ln w="1333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" y="5907024"/>
            <a:ext cx="1856232" cy="201168"/>
          </a:xfrm>
          <a:prstGeom prst="roundRect">
            <a:avLst>
              <a:gd name="adj" fmla="val 32000"/>
            </a:avLst>
          </a:prstGeom>
          <a:solidFill>
            <a:srgbClr val="288BA8"/>
          </a:solidFill>
          <a:ln w="8890">
            <a:solidFill>
              <a:srgbClr val="28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916168"/>
            <a:ext cx="1856232" cy="18288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080" b="1">
                <a:solidFill>
                  <a:srgbClr val="FFFFFF"/>
                </a:solidFill>
                <a:latin typeface="Arial"/>
              </a:defRPr>
            </a:pPr>
            <a:r>
              <a:rPr/>
              <a:t>Solve Path Reference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163056"/>
            <a:ext cx="10872216" cy="1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60"/>
              </a:spcAft>
              <a:defRPr sz="1040" b="0">
                <a:solidFill>
                  <a:srgbClr val="273F4A"/>
                </a:solidFill>
                <a:latin typeface="Arial"/>
              </a:defRPr>
            </a:pPr>
            <a:r>
              <a:rPr/>
              <a:t>Name the measurements or labels you know.</a:t>
            </a:r>
          </a:p>
          <a:p>
            <a:pPr algn="l">
              <a:lnSpc>
                <a:spcPct val="118000"/>
              </a:lnSpc>
              <a:spcAft>
                <a:spcPts val="260"/>
              </a:spcAft>
              <a:defRPr sz="1040" b="0">
                <a:solidFill>
                  <a:srgbClr val="273F4A"/>
                </a:solidFill>
                <a:latin typeface="Arial"/>
              </a:defRPr>
            </a:pPr>
            <a:r>
              <a:rPr/>
              <a:t>Choose the model or formula that fits the figure.</a:t>
            </a:r>
          </a:p>
          <a:p>
            <a:pPr algn="l">
              <a:lnSpc>
                <a:spcPct val="118000"/>
              </a:lnSpc>
              <a:spcAft>
                <a:spcPts val="80"/>
              </a:spcAft>
              <a:defRPr sz="1040" b="0">
                <a:solidFill>
                  <a:srgbClr val="273F4A"/>
                </a:solidFill>
                <a:latin typeface="Arial"/>
              </a:defRPr>
            </a:pPr>
            <a:r>
              <a:rPr/>
              <a:t>Substitute, solve, label the answer, and explain what it means.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47472"/>
            <a:ext cx="1755648" cy="310896"/>
          </a:xfrm>
          <a:prstGeom prst="roundRect">
            <a:avLst>
              <a:gd name="adj" fmla="val 35000"/>
            </a:avLst>
          </a:prstGeom>
          <a:solidFill>
            <a:srgbClr val="F9A826"/>
          </a:solidFill>
          <a:ln w="12065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080" b="1">
                <a:solidFill>
                  <a:srgbClr val="1E5F74"/>
                </a:solidFill>
                <a:latin typeface="Arial"/>
              </a:defRPr>
            </a:pPr>
            <a:r>
              <a:rPr/>
              <a:t>Guided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" y="768096"/>
            <a:ext cx="3291840" cy="475488"/>
          </a:xfrm>
          <a:prstGeom prst="roundRect">
            <a:avLst>
              <a:gd name="adj" fmla="val 24000"/>
            </a:avLst>
          </a:prstGeom>
          <a:solidFill>
            <a:srgbClr val="1E5F74"/>
          </a:solidFill>
          <a:ln w="889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329184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820" b="1">
                <a:solidFill>
                  <a:srgbClr val="FFFFFF"/>
                </a:solidFill>
                <a:latin typeface="Arial"/>
              </a:defRPr>
            </a:pPr>
            <a:r>
              <a:rPr/>
              <a:t>Guided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271016"/>
            <a:ext cx="9857232" cy="274320"/>
          </a:xfrm>
          <a:prstGeom prst="roundRect">
            <a:avLst>
              <a:gd name="adj" fmla="val 18000"/>
            </a:avLst>
          </a:prstGeom>
          <a:solidFill>
            <a:srgbClr val="ECF7FC"/>
          </a:solidFill>
          <a:ln w="7620">
            <a:solidFill>
              <a:srgbClr val="EC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9473184" cy="18288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200" b="0">
                <a:solidFill>
                  <a:srgbClr val="288BA8"/>
                </a:solidFill>
                <a:latin typeface="Arial"/>
              </a:defRPr>
            </a:pPr>
            <a:r>
              <a:rPr/>
              <a:t>Model the area problem, then solve a similar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99648" y="53035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9A826"/>
          </a:solidFill>
          <a:ln w="8890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99648" y="667512"/>
            <a:ext cx="566928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220" b="1">
                <a:solidFill>
                  <a:srgbClr val="FFFFFF"/>
                </a:solidFill>
                <a:latin typeface="Arial"/>
              </a:defRPr>
            </a:pPr>
            <a:r>
              <a:rPr/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1627632"/>
            <a:ext cx="11027664" cy="27432"/>
          </a:xfrm>
          <a:prstGeom prst="rect">
            <a:avLst/>
          </a:prstGeom>
          <a:solidFill>
            <a:srgbClr val="28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11201400" cy="566928"/>
          </a:xfrm>
          <a:prstGeom prst="roundRect">
            <a:avLst>
              <a:gd name="adj" fmla="val 18000"/>
            </a:avLst>
          </a:prstGeom>
          <a:solidFill>
            <a:srgbClr val="ECF7FC"/>
          </a:solidFill>
          <a:ln w="1333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1956816"/>
            <a:ext cx="1353312" cy="201168"/>
          </a:xfrm>
          <a:prstGeom prst="roundRect">
            <a:avLst>
              <a:gd name="adj" fmla="val 32000"/>
            </a:avLst>
          </a:prstGeom>
          <a:solidFill>
            <a:srgbClr val="288BA8"/>
          </a:solidFill>
          <a:ln w="8890">
            <a:solidFill>
              <a:srgbClr val="28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965960"/>
            <a:ext cx="1353312" cy="18288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080" b="1">
                <a:solidFill>
                  <a:srgbClr val="FFFFFF"/>
                </a:solidFill>
                <a:latin typeface="Arial"/>
              </a:defRPr>
            </a:pPr>
            <a:r>
              <a:rPr/>
              <a:t>Source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212848"/>
            <a:ext cx="10872216" cy="1097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080" b="0">
                <a:solidFill>
                  <a:srgbClr val="273F4A"/>
                </a:solidFill>
                <a:latin typeface="Arial"/>
              </a:defRPr>
            </a:pPr>
            <a:r>
              <a:rPr/>
              <a:t>Why is the height of one triangle 18 inches?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51760"/>
            <a:ext cx="3675887" cy="2340864"/>
          </a:xfrm>
          <a:prstGeom prst="roundRect">
            <a:avLst>
              <a:gd name="adj" fmla="val 10000"/>
            </a:avLst>
          </a:prstGeom>
          <a:solidFill>
            <a:srgbClr val="ECF7FC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889504"/>
            <a:ext cx="3200399" cy="1865376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630" b="1">
                <a:solidFill>
                  <a:srgbClr val="587A87"/>
                </a:solidFill>
                <a:latin typeface="Arial"/>
              </a:defRPr>
            </a:pPr>
            <a:r>
              <a:rPr/>
              <a:t>Labeled source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30368"/>
            <a:ext cx="3675887" cy="603504"/>
          </a:xfrm>
          <a:prstGeom prst="roundRect">
            <a:avLst>
              <a:gd name="adj" fmla="val 18000"/>
            </a:avLst>
          </a:prstGeom>
          <a:solidFill>
            <a:srgbClr val="EBF4F7"/>
          </a:solidFill>
          <a:ln w="1333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" y="5358384"/>
            <a:ext cx="1261872" cy="201168"/>
          </a:xfrm>
          <a:prstGeom prst="roundRect">
            <a:avLst>
              <a:gd name="adj" fmla="val 32000"/>
            </a:avLst>
          </a:prstGeom>
          <a:solidFill>
            <a:srgbClr val="288BA8"/>
          </a:solidFill>
          <a:ln w="8890">
            <a:solidFill>
              <a:srgbClr val="28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367528"/>
            <a:ext cx="1261872" cy="18288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080" b="1">
                <a:solidFill>
                  <a:srgbClr val="FFFFFF"/>
                </a:solidFill>
                <a:latin typeface="Arial"/>
              </a:defRPr>
            </a:pPr>
            <a:r>
              <a:rPr/>
              <a:t>Formula (S1)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614416"/>
            <a:ext cx="3346703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080" b="0">
                <a:solidFill>
                  <a:srgbClr val="273F4A"/>
                </a:solidFill>
                <a:latin typeface="Arial"/>
              </a:defRPr>
            </a:pPr>
            <a:r>
              <a:rPr/>
              <a:t>A = n x (b x h) / 2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407408" y="2651760"/>
          <a:ext cx="3236976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44"/>
                <a:gridCol w="809244"/>
                <a:gridCol w="809244"/>
                <a:gridCol w="809244"/>
              </a:tblGrid>
              <a:tr h="658368"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Base</a:t>
                      </a:r>
                    </a:p>
                  </a:txBody>
                  <a:tcPr>
                    <a:solidFill>
                      <a:srgbClr val="1E5F74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Height</a:t>
                      </a:r>
                    </a:p>
                  </a:txBody>
                  <a:tcPr>
                    <a:solidFill>
                      <a:srgbClr val="1E5F74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# Triangles</a:t>
                      </a:r>
                    </a:p>
                  </a:txBody>
                  <a:tcPr>
                    <a:solidFill>
                      <a:srgbClr val="1E5F74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>
                    <a:solidFill>
                      <a:srgbClr val="1E5F74"/>
                    </a:solidFill>
                  </a:tcPr>
                </a:tc>
              </a:tr>
              <a:tr h="658368"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40" b="0">
                          <a:solidFill>
                            <a:srgbClr val="273F4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40" b="0">
                          <a:solidFill>
                            <a:srgbClr val="273F4A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40" b="0">
                          <a:solidFill>
                            <a:srgbClr val="273F4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40" b="0">
                          <a:solidFill>
                            <a:srgbClr val="273F4A"/>
                          </a:solidFill>
                          <a:latin typeface="Arial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40" b="0">
                          <a:solidFill>
                            <a:srgbClr val="273F4A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40" b="0">
                          <a:solidFill>
                            <a:srgbClr val="273F4A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40" b="0">
                          <a:solidFill>
                            <a:srgbClr val="273F4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40" b="0">
                          <a:solidFill>
                            <a:srgbClr val="273F4A"/>
                          </a:solidFill>
                          <a:latin typeface="Arial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40" b="0">
                          <a:solidFill>
                            <a:srgbClr val="273F4A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40" b="0">
                          <a:solidFill>
                            <a:srgbClr val="273F4A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40" b="0">
                          <a:solidFill>
                            <a:srgbClr val="273F4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27432" rIns="27432" tIns="27432" bIns="27432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40" b="0">
                          <a:solidFill>
                            <a:srgbClr val="273F4A"/>
                          </a:solidFill>
                          <a:latin typeface="Arial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882127" y="2651760"/>
            <a:ext cx="3776472" cy="2633472"/>
          </a:xfrm>
          <a:prstGeom prst="roundRect">
            <a:avLst>
              <a:gd name="adj" fmla="val 16000"/>
            </a:avLst>
          </a:prstGeom>
          <a:solidFill>
            <a:srgbClr val="ECF7FC"/>
          </a:solidFill>
          <a:ln w="12700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28431" y="2798064"/>
            <a:ext cx="3483864" cy="8778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10000"/>
              </a:lnSpc>
              <a:spcAft>
                <a:spcPts val="160"/>
              </a:spcAft>
              <a:defRPr sz="1280" b="1">
                <a:solidFill>
                  <a:srgbClr val="288BA8"/>
                </a:solidFill>
                <a:latin typeface="Arial"/>
              </a:defRPr>
            </a:pPr>
            <a:r>
              <a:rPr/>
              <a:t>TWR Frame</a:t>
            </a:r>
          </a:p>
          <a:p>
            <a:pPr algn="l">
              <a:lnSpc>
                <a:spcPct val="114000"/>
              </a:lnSpc>
              <a:spcAft>
                <a:spcPts val="80"/>
              </a:spcAft>
              <a:defRPr sz="1120" b="0">
                <a:solidFill>
                  <a:srgbClr val="273F4A"/>
                </a:solidFill>
                <a:latin typeface="Arial"/>
              </a:defRPr>
            </a:pPr>
            <a:r>
              <a:rPr/>
              <a:t>Think: The important measurement is ___. Write: The formula or model is ___. Reason: The answer makes sense because ___.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3785616"/>
            <a:ext cx="3483864" cy="13533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07408" y="5449824"/>
            <a:ext cx="7251192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53712" y="5596128"/>
            <a:ext cx="6958584" cy="365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lnSpc>
                <a:spcPct val="110000"/>
              </a:lnSpc>
              <a:spcAft>
                <a:spcPts val="160"/>
              </a:spcAft>
              <a:defRPr sz="1100" b="1">
                <a:solidFill>
                  <a:srgbClr val="1E5F74"/>
                </a:solidFill>
                <a:latin typeface="Arial"/>
              </a:defRPr>
            </a:pPr>
            <a:r>
              <a:rPr/>
              <a:t>Student Work Area</a:t>
            </a:r>
          </a:p>
          <a:p>
            <a:pPr algn="l">
              <a:lnSpc>
                <a:spcPct val="114000"/>
              </a:lnSpc>
              <a:spcAft>
                <a:spcPts val="80"/>
              </a:spcAft>
              <a:defRPr sz="1060" b="0">
                <a:solidFill>
                  <a:srgbClr val="273F4A"/>
                </a:solidFill>
                <a:latin typeface="Arial"/>
              </a:defRPr>
            </a:pPr>
            <a:r>
              <a:rPr/>
              <a:t>Explain how the formula fits the problem.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47472"/>
            <a:ext cx="2139696" cy="310896"/>
          </a:xfrm>
          <a:prstGeom prst="roundRect">
            <a:avLst>
              <a:gd name="adj" fmla="val 35000"/>
            </a:avLst>
          </a:prstGeom>
          <a:solidFill>
            <a:srgbClr val="F9A826"/>
          </a:solidFill>
          <a:ln w="12065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080" b="1">
                <a:solidFill>
                  <a:srgbClr val="1E5F74"/>
                </a:solidFill>
                <a:latin typeface="Arial"/>
              </a:defRPr>
            </a:pPr>
            <a:r>
              <a:rPr/>
              <a:t>Interactive Activity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" y="768096"/>
            <a:ext cx="3291840" cy="475488"/>
          </a:xfrm>
          <a:prstGeom prst="roundRect">
            <a:avLst>
              <a:gd name="adj" fmla="val 24000"/>
            </a:avLst>
          </a:prstGeom>
          <a:solidFill>
            <a:srgbClr val="1E5F74"/>
          </a:solidFill>
          <a:ln w="889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329184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820" b="1">
                <a:solidFill>
                  <a:srgbClr val="FFFFFF"/>
                </a:solidFill>
                <a:latin typeface="Arial"/>
              </a:defRPr>
            </a:pPr>
            <a:r>
              <a:rPr/>
              <a:t>Interactive Activity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271016"/>
            <a:ext cx="9857232" cy="274320"/>
          </a:xfrm>
          <a:prstGeom prst="roundRect">
            <a:avLst>
              <a:gd name="adj" fmla="val 18000"/>
            </a:avLst>
          </a:prstGeom>
          <a:solidFill>
            <a:srgbClr val="F8DDA4"/>
          </a:solidFill>
          <a:ln w="7620">
            <a:solidFill>
              <a:srgbClr val="F8D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9473184" cy="18288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200" b="0">
                <a:solidFill>
                  <a:srgbClr val="F9A826"/>
                </a:solidFill>
                <a:latin typeface="Arial"/>
              </a:defRPr>
            </a:pPr>
            <a:r>
              <a:rPr/>
              <a:t>Solve the area problem, then solve a similar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99648" y="53035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9A826"/>
          </a:solidFill>
          <a:ln w="8890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99648" y="667512"/>
            <a:ext cx="566928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220" b="1">
                <a:solidFill>
                  <a:srgbClr val="FFFFF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1627632"/>
            <a:ext cx="11027664" cy="27432"/>
          </a:xfrm>
          <a:prstGeom prst="rect">
            <a:avLst/>
          </a:prstGeom>
          <a:solidFill>
            <a:srgbClr val="F9A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11201400" cy="475488"/>
          </a:xfrm>
          <a:prstGeom prst="roundRect">
            <a:avLst>
              <a:gd name="adj" fmla="val 18000"/>
            </a:avLst>
          </a:prstGeom>
          <a:solidFill>
            <a:srgbClr val="ECF7FC"/>
          </a:solidFill>
          <a:ln w="1333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1956816"/>
            <a:ext cx="1225296" cy="201168"/>
          </a:xfrm>
          <a:prstGeom prst="roundRect">
            <a:avLst>
              <a:gd name="adj" fmla="val 32000"/>
            </a:avLst>
          </a:prstGeom>
          <a:solidFill>
            <a:srgbClr val="288BA8"/>
          </a:solidFill>
          <a:ln w="8890">
            <a:solidFill>
              <a:srgbClr val="28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965960"/>
            <a:ext cx="1225296" cy="18288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080" b="1">
                <a:solidFill>
                  <a:srgbClr val="FFFFFF"/>
                </a:solidFill>
                <a:latin typeface="Arial"/>
              </a:defRPr>
            </a:pPr>
            <a:r>
              <a:rPr/>
              <a:t>Directions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212848"/>
            <a:ext cx="10872216" cy="182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080" b="0">
                <a:solidFill>
                  <a:srgbClr val="273F4A"/>
                </a:solidFill>
                <a:latin typeface="Arial"/>
              </a:defRPr>
            </a:pPr>
            <a:r>
              <a:rPr/>
              <a:t>Each partner solves one tile. Then answer Q3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23744"/>
            <a:ext cx="5376672" cy="2816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2670048"/>
            <a:ext cx="5084064" cy="53035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10000"/>
              </a:lnSpc>
              <a:spcAft>
                <a:spcPts val="160"/>
              </a:spcAft>
              <a:defRPr sz="1280" b="1">
                <a:solidFill>
                  <a:srgbClr val="1E5F74"/>
                </a:solidFill>
                <a:latin typeface="Arial"/>
              </a:defRPr>
            </a:pPr>
            <a:r>
              <a:rPr/>
              <a:t>Partner A</a:t>
            </a:r>
          </a:p>
          <a:p>
            <a:pPr algn="l">
              <a:lnSpc>
                <a:spcPct val="114000"/>
              </a:lnSpc>
              <a:spcAft>
                <a:spcPts val="80"/>
              </a:spcAft>
              <a:defRPr sz="1200" b="0">
                <a:solidFill>
                  <a:srgbClr val="273F4A"/>
                </a:solidFill>
                <a:latin typeface="Arial"/>
              </a:defRPr>
            </a:pPr>
            <a:r>
              <a:rPr/>
              <a:t>Why is the height of one triangle 18 inches?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3310128"/>
            <a:ext cx="5084064" cy="18836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81928" y="2523744"/>
            <a:ext cx="5376672" cy="2816352"/>
          </a:xfrm>
          <a:prstGeom prst="roundRect">
            <a:avLst>
              <a:gd name="adj" fmla="val 16000"/>
            </a:avLst>
          </a:prstGeom>
          <a:solidFill>
            <a:srgbClr val="F8DDA4"/>
          </a:solidFill>
          <a:ln w="12700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28232" y="2670048"/>
            <a:ext cx="5084064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10000"/>
              </a:lnSpc>
              <a:spcAft>
                <a:spcPts val="160"/>
              </a:spcAft>
              <a:defRPr sz="1280" b="1">
                <a:solidFill>
                  <a:srgbClr val="F9A826"/>
                </a:solidFill>
                <a:latin typeface="Arial"/>
              </a:defRPr>
            </a:pPr>
            <a:r>
              <a:rPr/>
              <a:t>Partner B</a:t>
            </a:r>
          </a:p>
          <a:p>
            <a:pPr algn="l">
              <a:lnSpc>
                <a:spcPct val="114000"/>
              </a:lnSpc>
              <a:spcAft>
                <a:spcPts val="80"/>
              </a:spcAft>
              <a:defRPr sz="1120" b="0">
                <a:solidFill>
                  <a:srgbClr val="273F4A"/>
                </a:solidFill>
                <a:latin typeface="Arial"/>
              </a:defRPr>
            </a:pPr>
            <a:r>
              <a:rPr/>
              <a:t>How can you decompose the octagon into shapes that you can find the area of?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28232" y="3438144"/>
            <a:ext cx="5084064" cy="17556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5010912"/>
            <a:ext cx="6455664" cy="1097280"/>
          </a:xfrm>
          <a:prstGeom prst="roundRect">
            <a:avLst>
              <a:gd name="adj" fmla="val 16000"/>
            </a:avLst>
          </a:prstGeom>
          <a:solidFill>
            <a:srgbClr val="ECF7FC"/>
          </a:solidFill>
          <a:ln w="12700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3504" y="5157216"/>
            <a:ext cx="6163056" cy="53035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10000"/>
              </a:lnSpc>
              <a:spcAft>
                <a:spcPts val="160"/>
              </a:spcAft>
              <a:defRPr sz="1200" b="1">
                <a:solidFill>
                  <a:srgbClr val="288BA8"/>
                </a:solidFill>
                <a:latin typeface="Arial"/>
              </a:defRPr>
            </a:pPr>
            <a:r>
              <a:rPr/>
              <a:t>Q3 Compare the Thinking</a:t>
            </a:r>
          </a:p>
          <a:p>
            <a:pPr algn="l">
              <a:lnSpc>
                <a:spcPct val="114000"/>
              </a:lnSpc>
              <a:spcAft>
                <a:spcPts val="80"/>
              </a:spcAft>
              <a:defRPr sz="1120" b="0">
                <a:solidFill>
                  <a:srgbClr val="273F4A"/>
                </a:solidFill>
                <a:latin typeface="Arial"/>
              </a:defRPr>
            </a:pPr>
            <a:r>
              <a:rPr/>
              <a:t>The setup is alike because ___. It changes because ___.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5797296"/>
            <a:ext cx="6163056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77456" y="5010912"/>
            <a:ext cx="4581144" cy="1097280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42048" y="5102352"/>
            <a:ext cx="24460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340" b="1">
                <a:solidFill>
                  <a:srgbClr val="1E5F74"/>
                </a:solidFill>
                <a:latin typeface="Arial"/>
              </a:defRPr>
            </a:pPr>
            <a:r>
              <a:rPr/>
              <a:t>Build the Solve Path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34372" y="5093208"/>
            <a:ext cx="1696212" cy="256032"/>
          </a:xfrm>
          <a:prstGeom prst="roundRect">
            <a:avLst>
              <a:gd name="adj" fmla="val 25000"/>
            </a:avLst>
          </a:prstGeom>
          <a:solidFill>
            <a:srgbClr val="EBF4F7"/>
          </a:solidFill>
          <a:ln w="12065">
            <a:solidFill>
              <a:srgbClr val="EB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34372" y="5120640"/>
            <a:ext cx="1696212" cy="164592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040" b="1">
                <a:solidFill>
                  <a:srgbClr val="1E5F74"/>
                </a:solidFill>
                <a:latin typeface="Arial"/>
              </a:defRPr>
            </a:pPr>
            <a:r>
              <a:rPr/>
              <a:t>Build + Construct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5358384"/>
            <a:ext cx="4325112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180" b="0">
                <a:solidFill>
                  <a:srgbClr val="587A87"/>
                </a:solidFill>
                <a:latin typeface="Arial"/>
              </a:defRPr>
            </a:pPr>
            <a:r>
              <a:rPr/>
              <a:t>Move the cards into a strong solve 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05472" y="5833872"/>
            <a:ext cx="1331976" cy="182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065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170" b="0">
                <a:solidFill>
                  <a:srgbClr val="273F4A"/>
                </a:solidFill>
                <a:latin typeface="Arial"/>
              </a:defRPr>
            </a:pPr>
            <a:r>
              <a:rPr/>
              <a:t>What do I know?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4024" y="5833872"/>
            <a:ext cx="1331976" cy="182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065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170" b="0">
                <a:solidFill>
                  <a:srgbClr val="273F4A"/>
                </a:solidFill>
                <a:latin typeface="Arial"/>
              </a:defRPr>
            </a:pPr>
            <a:r>
              <a:rPr/>
              <a:t>What do I need?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42576" y="5833872"/>
            <a:ext cx="1331976" cy="182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065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170" b="0">
                <a:solidFill>
                  <a:srgbClr val="273F4A"/>
                </a:solidFill>
                <a:latin typeface="Arial"/>
              </a:defRPr>
            </a:pPr>
            <a:r>
              <a:rPr/>
              <a:t>Set up the math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47472"/>
            <a:ext cx="2011680" cy="310896"/>
          </a:xfrm>
          <a:prstGeom prst="roundRect">
            <a:avLst>
              <a:gd name="adj" fmla="val 35000"/>
            </a:avLst>
          </a:prstGeom>
          <a:solidFill>
            <a:srgbClr val="F9A826"/>
          </a:solidFill>
          <a:ln w="12065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080" b="1">
                <a:solidFill>
                  <a:srgbClr val="1E5F74"/>
                </a:solidFill>
                <a:latin typeface="Arial"/>
              </a:defRPr>
            </a:pPr>
            <a:r>
              <a:rPr/>
              <a:t>Interactive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" y="768096"/>
            <a:ext cx="3694176" cy="475488"/>
          </a:xfrm>
          <a:prstGeom prst="roundRect">
            <a:avLst>
              <a:gd name="adj" fmla="val 24000"/>
            </a:avLst>
          </a:prstGeom>
          <a:solidFill>
            <a:srgbClr val="1E5F74"/>
          </a:solidFill>
          <a:ln w="889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3694176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820" b="1">
                <a:solidFill>
                  <a:srgbClr val="FFFFFF"/>
                </a:solidFill>
                <a:latin typeface="Arial"/>
              </a:defRPr>
            </a:pPr>
            <a:r>
              <a:rPr/>
              <a:t>Best-Fit Interactive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271016"/>
            <a:ext cx="9857232" cy="274320"/>
          </a:xfrm>
          <a:prstGeom prst="roundRect">
            <a:avLst>
              <a:gd name="adj" fmla="val 18000"/>
            </a:avLst>
          </a:prstGeom>
          <a:solidFill>
            <a:srgbClr val="F8DDA4"/>
          </a:solidFill>
          <a:ln w="7620">
            <a:solidFill>
              <a:srgbClr val="F8D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9473184" cy="18288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18000"/>
              </a:lnSpc>
              <a:spcAft>
                <a:spcPts val="80"/>
              </a:spcAft>
              <a:defRPr sz="1200" b="0">
                <a:solidFill>
                  <a:srgbClr val="F9A826"/>
                </a:solidFill>
                <a:latin typeface="Arial"/>
              </a:defRPr>
            </a:pPr>
            <a:r>
              <a:rPr/>
              <a:t>Solve the area problem, then solve a similar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99648" y="53035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9A826"/>
          </a:solidFill>
          <a:ln w="8890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99648" y="667512"/>
            <a:ext cx="566928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8000"/>
              </a:lnSpc>
              <a:spcAft>
                <a:spcPts val="80"/>
              </a:spcAft>
              <a:defRPr sz="1220" b="1">
                <a:solidFill>
                  <a:srgbClr val="FFFFFF"/>
                </a:solidFill>
                <a:latin typeface="Arial"/>
              </a:defRPr>
            </a:pPr>
            <a:r>
              <a:rPr/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1627632"/>
            <a:ext cx="11027664" cy="27432"/>
          </a:xfrm>
          <a:prstGeom prst="rect">
            <a:avLst/>
          </a:prstGeom>
          <a:solidFill>
            <a:srgbClr val="F9A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5394960" cy="32186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E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975104"/>
            <a:ext cx="5102352" cy="53035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10000"/>
              </a:lnSpc>
              <a:spcAft>
                <a:spcPts val="160"/>
              </a:spcAft>
              <a:defRPr sz="1280" b="1">
                <a:solidFill>
                  <a:srgbClr val="1E5F74"/>
                </a:solidFill>
                <a:latin typeface="Arial"/>
              </a:defRPr>
            </a:pPr>
            <a:r>
              <a:rPr/>
              <a:t>Partner A</a:t>
            </a:r>
          </a:p>
          <a:p>
            <a:pPr algn="l">
              <a:lnSpc>
                <a:spcPct val="114000"/>
              </a:lnSpc>
              <a:spcAft>
                <a:spcPts val="80"/>
              </a:spcAft>
              <a:defRPr sz="1200" b="0">
                <a:solidFill>
                  <a:srgbClr val="273F4A"/>
                </a:solidFill>
                <a:latin typeface="Arial"/>
              </a:defRPr>
            </a:pPr>
            <a:r>
              <a:rPr/>
              <a:t>Why is the height of one triangle 18 inches?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2615184"/>
            <a:ext cx="5102352" cy="2286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394960" cy="3218688"/>
          </a:xfrm>
          <a:prstGeom prst="roundRect">
            <a:avLst>
              <a:gd name="adj" fmla="val 16000"/>
            </a:avLst>
          </a:prstGeom>
          <a:solidFill>
            <a:srgbClr val="F8DDA4"/>
          </a:solidFill>
          <a:ln w="12700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9944" y="1975104"/>
            <a:ext cx="5102352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10000"/>
              </a:lnSpc>
              <a:spcAft>
                <a:spcPts val="160"/>
              </a:spcAft>
              <a:defRPr sz="1280" b="1">
                <a:solidFill>
                  <a:srgbClr val="F9A826"/>
                </a:solidFill>
                <a:latin typeface="Arial"/>
              </a:defRPr>
            </a:pPr>
            <a:r>
              <a:rPr/>
              <a:t>Partner B</a:t>
            </a:r>
          </a:p>
          <a:p>
            <a:pPr algn="l">
              <a:lnSpc>
                <a:spcPct val="114000"/>
              </a:lnSpc>
              <a:spcAft>
                <a:spcPts val="80"/>
              </a:spcAft>
              <a:defRPr sz="1120" b="0">
                <a:solidFill>
                  <a:srgbClr val="273F4A"/>
                </a:solidFill>
                <a:latin typeface="Arial"/>
              </a:defRPr>
            </a:pPr>
            <a:r>
              <a:rPr/>
              <a:t>How can you decompose the octagon into shapes that you can find the area of?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9944" y="2743200"/>
            <a:ext cx="5102352" cy="21579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5230368"/>
            <a:ext cx="5532120" cy="877824"/>
          </a:xfrm>
          <a:prstGeom prst="roundRect">
            <a:avLst>
              <a:gd name="adj" fmla="val 16000"/>
            </a:avLst>
          </a:prstGeom>
          <a:solidFill>
            <a:srgbClr val="ECF7FC"/>
          </a:solidFill>
          <a:ln w="12700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5376672"/>
            <a:ext cx="5239512" cy="53035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10000"/>
              </a:lnSpc>
              <a:spcAft>
                <a:spcPts val="160"/>
              </a:spcAft>
              <a:defRPr sz="1200" b="1">
                <a:solidFill>
                  <a:srgbClr val="288BA8"/>
                </a:solidFill>
                <a:latin typeface="Arial"/>
              </a:defRPr>
            </a:pPr>
            <a:r>
              <a:rPr/>
              <a:t>Q1</a:t>
            </a:r>
          </a:p>
          <a:p>
            <a:pPr algn="l">
              <a:lnSpc>
                <a:spcPct val="114000"/>
              </a:lnSpc>
              <a:spcAft>
                <a:spcPts val="80"/>
              </a:spcAft>
              <a:defRPr sz="1120" b="0">
                <a:solidFill>
                  <a:srgbClr val="273F4A"/>
                </a:solidFill>
                <a:latin typeface="Arial"/>
              </a:defRPr>
            </a:pPr>
            <a:r>
              <a:rPr/>
              <a:t>What stays the same in both problems?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6016752"/>
            <a:ext cx="5239512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80" y="5230368"/>
            <a:ext cx="5532120" cy="877824"/>
          </a:xfrm>
          <a:prstGeom prst="roundRect">
            <a:avLst>
              <a:gd name="adj" fmla="val 16000"/>
            </a:avLst>
          </a:prstGeom>
          <a:solidFill>
            <a:srgbClr val="EFF7F9"/>
          </a:solidFill>
          <a:ln w="12700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2784" y="5376672"/>
            <a:ext cx="5239512" cy="53035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10000"/>
              </a:lnSpc>
              <a:spcAft>
                <a:spcPts val="160"/>
              </a:spcAft>
              <a:defRPr sz="1200" b="1">
                <a:solidFill>
                  <a:srgbClr val="5A8E9D"/>
                </a:solidFill>
                <a:latin typeface="Arial"/>
              </a:defRPr>
            </a:pPr>
            <a:r>
              <a:rPr/>
              <a:t>Q2</a:t>
            </a:r>
          </a:p>
          <a:p>
            <a:pPr algn="l">
              <a:lnSpc>
                <a:spcPct val="114000"/>
              </a:lnSpc>
              <a:spcAft>
                <a:spcPts val="80"/>
              </a:spcAft>
              <a:defRPr sz="1120" b="0">
                <a:solidFill>
                  <a:srgbClr val="273F4A"/>
                </a:solidFill>
                <a:latin typeface="Arial"/>
              </a:defRPr>
            </a:pPr>
            <a:r>
              <a:rPr/>
              <a:t>Which label or measurement changes your setup?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2784" y="6016752"/>
            <a:ext cx="5239512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065">
            <a:solidFill>
              <a:srgbClr val="E3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